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E3666B8-2BD3-491A-821A-9CCE51B2A99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C7A293-5A4E-419C-AF14-2F6E15CCC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9003CD-249B-4C14-9223-210D5564E4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BC0119-47F5-4C45-9264-09BDDA6F52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088428-83C0-403D-BF2E-F661CEFB53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8F51C5-40E2-4445-9842-5C79900AAD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2FCCB7-4C48-4BA1-A974-446E65422E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9800" y="0"/>
            <a:ext cx="9033840" cy="5143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09440" y="571320"/>
            <a:ext cx="9034560" cy="360"/>
          </a:xfrm>
          <a:prstGeom prst="line">
            <a:avLst/>
          </a:prstGeom>
          <a:ln w="6350">
            <a:solidFill>
              <a:srgbClr val="1C23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09440" y="1143000"/>
            <a:ext cx="9034560" cy="360"/>
          </a:xfrm>
          <a:prstGeom prst="line">
            <a:avLst/>
          </a:prstGeom>
          <a:ln w="6350">
            <a:solidFill>
              <a:srgbClr val="1C23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09440" y="1714320"/>
            <a:ext cx="9034560" cy="360"/>
          </a:xfrm>
          <a:prstGeom prst="line">
            <a:avLst/>
          </a:prstGeom>
          <a:ln w="6350">
            <a:solidFill>
              <a:srgbClr val="1C23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109440" y="2286000"/>
            <a:ext cx="9034560" cy="360"/>
          </a:xfrm>
          <a:prstGeom prst="line">
            <a:avLst/>
          </a:prstGeom>
          <a:ln w="6350">
            <a:solidFill>
              <a:srgbClr val="1C23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109440" y="2857320"/>
            <a:ext cx="9034560" cy="360"/>
          </a:xfrm>
          <a:prstGeom prst="line">
            <a:avLst/>
          </a:prstGeom>
          <a:ln w="6350">
            <a:solidFill>
              <a:srgbClr val="1C23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109440" y="3429000"/>
            <a:ext cx="9034560" cy="360"/>
          </a:xfrm>
          <a:prstGeom prst="line">
            <a:avLst/>
          </a:prstGeom>
          <a:ln w="6350">
            <a:solidFill>
              <a:srgbClr val="1C23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109440" y="4000320"/>
            <a:ext cx="9034560" cy="360"/>
          </a:xfrm>
          <a:prstGeom prst="line">
            <a:avLst/>
          </a:prstGeom>
          <a:ln w="6350">
            <a:solidFill>
              <a:srgbClr val="1C23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109440" y="4572000"/>
            <a:ext cx="9034560" cy="360"/>
          </a:xfrm>
          <a:prstGeom prst="line">
            <a:avLst/>
          </a:prstGeom>
          <a:ln w="6350">
            <a:solidFill>
              <a:srgbClr val="1C23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57200" y="4572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400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THREAT INTELLIGENCE REPORT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57200" y="8686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pc="300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MALWARE </a:t>
            </a:r>
            <a:r>
              <a:rPr lang="en-US" sz="2800" b="1" u="none" spc="300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ANALYSIS </a:t>
            </a:r>
            <a:r>
              <a:rPr lang="en-US" sz="2800" b="1" u="none" spc="300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REPORT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57200" y="150876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F78166"/>
                </a:solidFill>
                <a:effectLst/>
                <a:uFillTx/>
                <a:latin typeface="Calibri"/>
                <a:ea typeface="Calibri"/>
              </a:rPr>
              <a:t>bomb.b</a:t>
            </a:r>
            <a:r>
              <a:rPr lang="en-US" sz="7200" b="1" u="none" strike="noStrike">
                <a:solidFill>
                  <a:srgbClr val="F78166"/>
                </a:solidFill>
                <a:effectLst/>
                <a:uFillTx/>
                <a:latin typeface="Calibri"/>
                <a:ea typeface="Calibri"/>
              </a:rPr>
              <a:t>in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457200" y="2651760"/>
            <a:ext cx="1828440" cy="383760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457200" y="265176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⚠  HIGH SEVERITY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457200" y="3154680"/>
            <a:ext cx="1554120" cy="292320"/>
          </a:xfrm>
          <a:prstGeom prst="rect">
            <a:avLst/>
          </a:prstGeom>
          <a:solidFill>
            <a:srgbClr val="F78166">
              <a:alpha val="25000"/>
            </a:srgbClr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457200" y="31546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78166"/>
                </a:solidFill>
                <a:effectLst/>
                <a:uFillTx/>
                <a:latin typeface="Calibri"/>
              </a:rPr>
              <a:t>LUMMA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2148840" y="3154680"/>
            <a:ext cx="1554120" cy="292320"/>
          </a:xfrm>
          <a:prstGeom prst="rect">
            <a:avLst/>
          </a:prstGeom>
          <a:solidFill>
            <a:srgbClr val="388BFD">
              <a:alpha val="25000"/>
            </a:srgbClr>
          </a:solidFill>
          <a:ln w="12700">
            <a:solidFill>
              <a:srgbClr val="388B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2148840" y="31546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8BFD"/>
                </a:solidFill>
                <a:effectLst/>
                <a:uFillTx/>
                <a:latin typeface="Calibri"/>
              </a:rPr>
              <a:t>AGENTTESLA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3840480" y="3154680"/>
            <a:ext cx="1554120" cy="292320"/>
          </a:xfrm>
          <a:prstGeom prst="rect">
            <a:avLst/>
          </a:prstGeom>
          <a:solidFill>
            <a:srgbClr val="8957E5">
              <a:alpha val="25000"/>
            </a:srgbClr>
          </a:solidFill>
          <a:ln w="12700">
            <a:solidFill>
              <a:srgbClr val="8957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3840480" y="31546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957E5"/>
                </a:solidFill>
                <a:effectLst/>
                <a:uFillTx/>
                <a:latin typeface="Calibri"/>
              </a:rPr>
              <a:t>ZGRAT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5532120" y="3154680"/>
            <a:ext cx="1554120" cy="292320"/>
          </a:xfrm>
          <a:prstGeom prst="rect">
            <a:avLst/>
          </a:prstGeom>
          <a:solidFill>
            <a:srgbClr val="D29922">
              <a:alpha val="25000"/>
            </a:srgbClr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5532120" y="31546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B</a:t>
            </a:r>
            <a:r>
              <a:rPr lang="en-US" sz="90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A</a:t>
            </a:r>
            <a:r>
              <a:rPr lang="en-US" sz="90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C</a:t>
            </a:r>
            <a:r>
              <a:rPr lang="en-US" sz="90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K</a:t>
            </a:r>
            <a:r>
              <a:rPr lang="en-US" sz="90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D</a:t>
            </a:r>
            <a:r>
              <a:rPr lang="en-US" sz="90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O</a:t>
            </a:r>
            <a:r>
              <a:rPr lang="en-US" sz="90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O</a:t>
            </a:r>
            <a:r>
              <a:rPr lang="en-US" sz="90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7223760" y="3154680"/>
            <a:ext cx="1554120" cy="292320"/>
          </a:xfrm>
          <a:prstGeom prst="rect">
            <a:avLst/>
          </a:prstGeom>
          <a:solidFill>
            <a:srgbClr val="8B949E">
              <a:alpha val="25000"/>
            </a:srgbClr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7223760" y="31546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PHISHING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457200" y="356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8B949E"/>
                </a:solidFill>
                <a:effectLst/>
                <a:uFillTx/>
                <a:latin typeface="Calibri"/>
              </a:rPr>
              <a:t>STEALER  /  RAT  /  LOADER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457200" y="4206240"/>
            <a:ext cx="8503560" cy="456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457200" y="4206240"/>
            <a:ext cx="8503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Analyst: </a:t>
            </a:r>
            <a:r>
              <a:rPr lang="en-US" sz="11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Jessica Sansaricq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    |    Date: </a:t>
            </a:r>
            <a:r>
              <a:rPr lang="en-US" sz="11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2025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    |    Platform: </a:t>
            </a:r>
            <a:r>
              <a:rPr lang="en-US" sz="11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Windows 10 x64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72720" cy="5025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164520" y="91440"/>
            <a:ext cx="292320" cy="292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164520" y="91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567000" y="73080"/>
            <a:ext cx="6857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SAMPLE OVERVIEW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8046720" y="91440"/>
            <a:ext cx="1005480" cy="292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8046720" y="9144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TLP:WHITE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274320" y="495612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bomb.bin Malware Analysis Report  |  Confidential – Internal Use  |  TLP:WHITE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9"/>
          <p:cNvSpPr/>
          <p:nvPr/>
        </p:nvSpPr>
        <p:spPr>
          <a:xfrm>
            <a:off x="255960" y="621720"/>
            <a:ext cx="5028840" cy="292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255960" y="62172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ATTRIBUTE                                VALUE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255960" y="932760"/>
            <a:ext cx="5028840" cy="456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320040" y="93276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63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File Name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3"/>
          <p:cNvSpPr/>
          <p:nvPr/>
        </p:nvSpPr>
        <p:spPr>
          <a:xfrm>
            <a:off x="1554480" y="1005840"/>
            <a:ext cx="360" cy="31068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1627560" y="93276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bomb.bin / bomb.exe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255960" y="1426320"/>
            <a:ext cx="5028840" cy="4568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320040" y="142632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63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File Type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1554480" y="1499400"/>
            <a:ext cx="360" cy="31104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1627560" y="142632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Win32 PE Executable / .NET Assembly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9"/>
          <p:cNvSpPr/>
          <p:nvPr/>
        </p:nvSpPr>
        <p:spPr>
          <a:xfrm>
            <a:off x="255960" y="1920240"/>
            <a:ext cx="5028840" cy="456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320040" y="192024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63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MD5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1"/>
          <p:cNvSpPr/>
          <p:nvPr/>
        </p:nvSpPr>
        <p:spPr>
          <a:xfrm>
            <a:off x="1554480" y="1993320"/>
            <a:ext cx="360" cy="31068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2"/>
          <p:cNvSpPr/>
          <p:nvPr/>
        </p:nvSpPr>
        <p:spPr>
          <a:xfrm>
            <a:off x="1627560" y="192024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301B11E8C7FE546B92260C88B2001998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3"/>
          <p:cNvSpPr/>
          <p:nvPr/>
        </p:nvSpPr>
        <p:spPr>
          <a:xfrm>
            <a:off x="255960" y="2414160"/>
            <a:ext cx="5028840" cy="4568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4"/>
          <p:cNvSpPr/>
          <p:nvPr/>
        </p:nvSpPr>
        <p:spPr>
          <a:xfrm>
            <a:off x="320040" y="241416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63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SHA-256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5"/>
          <p:cNvSpPr/>
          <p:nvPr/>
        </p:nvSpPr>
        <p:spPr>
          <a:xfrm>
            <a:off x="1554480" y="2486880"/>
            <a:ext cx="360" cy="31104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6"/>
          <p:cNvSpPr/>
          <p:nvPr/>
        </p:nvSpPr>
        <p:spPr>
          <a:xfrm>
            <a:off x="1627560" y="241416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42ebcc120a60e473f380cb0eac07b778677ca683112a8037b4da76f69489dd00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7"/>
          <p:cNvSpPr/>
          <p:nvPr/>
        </p:nvSpPr>
        <p:spPr>
          <a:xfrm>
            <a:off x="255960" y="2907720"/>
            <a:ext cx="5028840" cy="456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8"/>
          <p:cNvSpPr/>
          <p:nvPr/>
        </p:nvSpPr>
        <p:spPr>
          <a:xfrm>
            <a:off x="320040" y="290772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63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Detection Rate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9"/>
          <p:cNvSpPr/>
          <p:nvPr/>
        </p:nvSpPr>
        <p:spPr>
          <a:xfrm>
            <a:off x="1554480" y="2980800"/>
            <a:ext cx="360" cy="31104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0"/>
          <p:cNvSpPr/>
          <p:nvPr/>
        </p:nvSpPr>
        <p:spPr>
          <a:xfrm>
            <a:off x="1627560" y="290772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49/70 (VirusTotal)   |   76% (Hybrid Analysis)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1"/>
          <p:cNvSpPr/>
          <p:nvPr/>
        </p:nvSpPr>
        <p:spPr>
          <a:xfrm>
            <a:off x="255960" y="3401640"/>
            <a:ext cx="5028840" cy="4568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2"/>
          <p:cNvSpPr/>
          <p:nvPr/>
        </p:nvSpPr>
        <p:spPr>
          <a:xfrm>
            <a:off x="320040" y="340164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63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First Seen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3"/>
          <p:cNvSpPr/>
          <p:nvPr/>
        </p:nvSpPr>
        <p:spPr>
          <a:xfrm>
            <a:off x="1554480" y="3474720"/>
            <a:ext cx="360" cy="31068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4"/>
          <p:cNvSpPr/>
          <p:nvPr/>
        </p:nvSpPr>
        <p:spPr>
          <a:xfrm>
            <a:off x="1627560" y="340164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2025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5"/>
          <p:cNvSpPr/>
          <p:nvPr/>
        </p:nvSpPr>
        <p:spPr>
          <a:xfrm>
            <a:off x="255960" y="3895200"/>
            <a:ext cx="5028840" cy="456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6"/>
          <p:cNvSpPr/>
          <p:nvPr/>
        </p:nvSpPr>
        <p:spPr>
          <a:xfrm>
            <a:off x="320040" y="389520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63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OS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7"/>
          <p:cNvSpPr/>
          <p:nvPr/>
        </p:nvSpPr>
        <p:spPr>
          <a:xfrm>
            <a:off x="1554480" y="3968280"/>
            <a:ext cx="360" cy="31104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8"/>
          <p:cNvSpPr/>
          <p:nvPr/>
        </p:nvSpPr>
        <p:spPr>
          <a:xfrm>
            <a:off x="1627560" y="389520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Windows 10 64-bit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9"/>
          <p:cNvSpPr/>
          <p:nvPr/>
        </p:nvSpPr>
        <p:spPr>
          <a:xfrm>
            <a:off x="5486400" y="621720"/>
            <a:ext cx="3401280" cy="1234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0"/>
          <p:cNvSpPr/>
          <p:nvPr/>
        </p:nvSpPr>
        <p:spPr>
          <a:xfrm>
            <a:off x="5486400" y="1901880"/>
            <a:ext cx="340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File Hash Details (VirusTotal)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1"/>
          <p:cNvSpPr/>
          <p:nvPr/>
        </p:nvSpPr>
        <p:spPr>
          <a:xfrm>
            <a:off x="5486400" y="2176200"/>
            <a:ext cx="340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8B949E"/>
                </a:solidFill>
                <a:effectLst/>
                <a:uFillTx/>
                <a:latin typeface="Calibri"/>
              </a:rPr>
              <a:t>THREAT TAGS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42"/>
          <p:cNvSpPr/>
          <p:nvPr/>
        </p:nvSpPr>
        <p:spPr>
          <a:xfrm>
            <a:off x="5486400" y="2450520"/>
            <a:ext cx="680760" cy="237240"/>
          </a:xfrm>
          <a:prstGeom prst="rect">
            <a:avLst/>
          </a:prstGeom>
          <a:solidFill>
            <a:srgbClr val="F78166">
              <a:alpha val="20000"/>
            </a:srgbClr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3"/>
          <p:cNvSpPr/>
          <p:nvPr/>
        </p:nvSpPr>
        <p:spPr>
          <a:xfrm>
            <a:off x="5486400" y="2450520"/>
            <a:ext cx="680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78166"/>
                </a:solidFill>
                <a:effectLst/>
                <a:uFillTx/>
                <a:latin typeface="Calibri"/>
              </a:rPr>
              <a:t>stealer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4"/>
          <p:cNvSpPr/>
          <p:nvPr/>
        </p:nvSpPr>
        <p:spPr>
          <a:xfrm>
            <a:off x="6240960" y="2450520"/>
            <a:ext cx="594000" cy="237240"/>
          </a:xfrm>
          <a:prstGeom prst="rect">
            <a:avLst/>
          </a:prstGeom>
          <a:solidFill>
            <a:srgbClr val="F78166">
              <a:alpha val="20000"/>
            </a:srgbClr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5"/>
          <p:cNvSpPr/>
          <p:nvPr/>
        </p:nvSpPr>
        <p:spPr>
          <a:xfrm>
            <a:off x="6240960" y="2450520"/>
            <a:ext cx="594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78166"/>
                </a:solidFill>
                <a:effectLst/>
                <a:uFillTx/>
                <a:latin typeface="Calibri"/>
              </a:rPr>
              <a:t>rat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6"/>
          <p:cNvSpPr/>
          <p:nvPr/>
        </p:nvSpPr>
        <p:spPr>
          <a:xfrm>
            <a:off x="6908400" y="2450520"/>
            <a:ext cx="603000" cy="237240"/>
          </a:xfrm>
          <a:prstGeom prst="rect">
            <a:avLst/>
          </a:prstGeom>
          <a:solidFill>
            <a:srgbClr val="8957E5">
              <a:alpha val="20000"/>
            </a:srgbClr>
          </a:solidFill>
          <a:ln w="12700">
            <a:solidFill>
              <a:srgbClr val="8957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7"/>
          <p:cNvSpPr/>
          <p:nvPr/>
        </p:nvSpPr>
        <p:spPr>
          <a:xfrm>
            <a:off x="6908400" y="2450520"/>
            <a:ext cx="60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957E5"/>
                </a:solidFill>
                <a:effectLst/>
                <a:uFillTx/>
                <a:latin typeface="Calibri"/>
              </a:rPr>
              <a:t>loader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8"/>
          <p:cNvSpPr/>
          <p:nvPr/>
        </p:nvSpPr>
        <p:spPr>
          <a:xfrm>
            <a:off x="7584840" y="2450520"/>
            <a:ext cx="758520" cy="237240"/>
          </a:xfrm>
          <a:prstGeom prst="rect">
            <a:avLst/>
          </a:prstGeom>
          <a:solidFill>
            <a:srgbClr val="D29922">
              <a:alpha val="20000"/>
            </a:srgbClr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9"/>
          <p:cNvSpPr/>
          <p:nvPr/>
        </p:nvSpPr>
        <p:spPr>
          <a:xfrm>
            <a:off x="7584840" y="2450520"/>
            <a:ext cx="758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phishing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0"/>
          <p:cNvSpPr/>
          <p:nvPr/>
        </p:nvSpPr>
        <p:spPr>
          <a:xfrm>
            <a:off x="5486400" y="2752200"/>
            <a:ext cx="1458000" cy="237240"/>
          </a:xfrm>
          <a:prstGeom prst="rect">
            <a:avLst/>
          </a:prstGeom>
          <a:solidFill>
            <a:srgbClr val="D29922">
              <a:alpha val="20000"/>
            </a:srgbClr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1"/>
          <p:cNvSpPr/>
          <p:nvPr/>
        </p:nvSpPr>
        <p:spPr>
          <a:xfrm>
            <a:off x="5486400" y="2752200"/>
            <a:ext cx="1458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credentialphisher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52"/>
          <p:cNvSpPr/>
          <p:nvPr/>
        </p:nvSpPr>
        <p:spPr>
          <a:xfrm>
            <a:off x="7018200" y="2752200"/>
            <a:ext cx="758520" cy="237240"/>
          </a:xfrm>
          <a:prstGeom prst="rect">
            <a:avLst/>
          </a:prstGeom>
          <a:solidFill>
            <a:srgbClr val="DA3633">
              <a:alpha val="20000"/>
            </a:srgbClr>
          </a:solidFill>
          <a:ln w="12700">
            <a:solidFill>
              <a:srgbClr val="DA36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3"/>
          <p:cNvSpPr/>
          <p:nvPr/>
        </p:nvSpPr>
        <p:spPr>
          <a:xfrm>
            <a:off x="7018200" y="2752200"/>
            <a:ext cx="758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A3633"/>
                </a:solidFill>
                <a:effectLst/>
                <a:uFillTx/>
                <a:latin typeface="Calibri"/>
              </a:rPr>
              <a:t>backdoor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54"/>
          <p:cNvSpPr/>
          <p:nvPr/>
        </p:nvSpPr>
        <p:spPr>
          <a:xfrm>
            <a:off x="7850160" y="2752200"/>
            <a:ext cx="758520" cy="237240"/>
          </a:xfrm>
          <a:prstGeom prst="rect">
            <a:avLst/>
          </a:prstGeom>
          <a:solidFill>
            <a:srgbClr val="388BFD">
              <a:alpha val="20000"/>
            </a:srgbClr>
          </a:solidFill>
          <a:ln w="12700">
            <a:solidFill>
              <a:srgbClr val="388B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5"/>
          <p:cNvSpPr/>
          <p:nvPr/>
        </p:nvSpPr>
        <p:spPr>
          <a:xfrm>
            <a:off x="7850160" y="2752200"/>
            <a:ext cx="758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8BFD"/>
                </a:solidFill>
                <a:effectLst/>
                <a:uFillTx/>
                <a:latin typeface="Calibri"/>
              </a:rPr>
              <a:t>telegram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6"/>
          <p:cNvSpPr/>
          <p:nvPr/>
        </p:nvSpPr>
        <p:spPr>
          <a:xfrm>
            <a:off x="5486400" y="3054240"/>
            <a:ext cx="594000" cy="237240"/>
          </a:xfrm>
          <a:prstGeom prst="rect">
            <a:avLst/>
          </a:prstGeom>
          <a:solidFill>
            <a:srgbClr val="F78166">
              <a:alpha val="20000"/>
            </a:srgbClr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7"/>
          <p:cNvSpPr/>
          <p:nvPr/>
        </p:nvSpPr>
        <p:spPr>
          <a:xfrm>
            <a:off x="5486400" y="3054240"/>
            <a:ext cx="594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78166"/>
                </a:solidFill>
                <a:effectLst/>
                <a:uFillTx/>
                <a:latin typeface="Calibri"/>
              </a:rPr>
              <a:t>lumma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58"/>
          <p:cNvSpPr/>
          <p:nvPr/>
        </p:nvSpPr>
        <p:spPr>
          <a:xfrm>
            <a:off x="6153840" y="3054240"/>
            <a:ext cx="914040" cy="237240"/>
          </a:xfrm>
          <a:prstGeom prst="rect">
            <a:avLst/>
          </a:prstGeom>
          <a:solidFill>
            <a:srgbClr val="388BFD">
              <a:alpha val="20000"/>
            </a:srgbClr>
          </a:solidFill>
          <a:ln w="12700">
            <a:solidFill>
              <a:srgbClr val="388B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9"/>
          <p:cNvSpPr/>
          <p:nvPr/>
        </p:nvSpPr>
        <p:spPr>
          <a:xfrm>
            <a:off x="6153840" y="305424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8BFD"/>
                </a:solidFill>
                <a:effectLst/>
                <a:uFillTx/>
                <a:latin typeface="Calibri"/>
              </a:rPr>
              <a:t>agenttesla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1"/>
          <a:srcRect l="1285" t="11788" r="50242" b="69178"/>
          <a:stretch/>
        </p:blipFill>
        <p:spPr>
          <a:xfrm>
            <a:off x="5486400" y="685800"/>
            <a:ext cx="3428640" cy="97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0" y="0"/>
            <a:ext cx="72720" cy="5025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164520" y="91440"/>
            <a:ext cx="292320" cy="292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164520" y="91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567000" y="73080"/>
            <a:ext cx="6857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INFECTIO</a:t>
            </a:r>
            <a:r>
              <a:rPr lang="en-US" sz="1300" b="1" u="none" spc="201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N CHAIN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"/>
          <p:cNvSpPr/>
          <p:nvPr/>
        </p:nvSpPr>
        <p:spPr>
          <a:xfrm>
            <a:off x="8046720" y="91440"/>
            <a:ext cx="1005480" cy="292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8046720" y="9144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TLP:WHITE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7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274320" y="495612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bomb.bin Malware Analysis Report  |  Confidential – Internal Use  |  </a:t>
            </a:r>
            <a:r>
              <a:rPr lang="en-US" sz="7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TLP:WHITE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9"/>
          <p:cNvSpPr/>
          <p:nvPr/>
        </p:nvSpPr>
        <p:spPr>
          <a:xfrm>
            <a:off x="255960" y="621720"/>
            <a:ext cx="1416960" cy="914040"/>
          </a:xfrm>
          <a:prstGeom prst="rect">
            <a:avLst/>
          </a:prstGeom>
          <a:solidFill>
            <a:srgbClr val="161B22"/>
          </a:solidFill>
          <a:ln w="19050">
            <a:solidFill>
              <a:srgbClr val="388BF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0"/>
          <p:cNvSpPr/>
          <p:nvPr/>
        </p:nvSpPr>
        <p:spPr>
          <a:xfrm>
            <a:off x="255960" y="621720"/>
            <a:ext cx="1416960" cy="4536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255960" y="6768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88BFD"/>
                </a:solidFill>
                <a:effectLst/>
                <a:uFillTx/>
                <a:latin typeface="Calibri"/>
              </a:rPr>
              <a:t>winword.exe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255960" y="93276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Initial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Document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3"/>
          <p:cNvSpPr/>
          <p:nvPr/>
        </p:nvSpPr>
        <p:spPr>
          <a:xfrm>
            <a:off x="1673280" y="1078920"/>
            <a:ext cx="255960" cy="360"/>
          </a:xfrm>
          <a:prstGeom prst="line">
            <a:avLst/>
          </a:prstGeom>
          <a:ln w="1905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4"/>
          <p:cNvSpPr/>
          <p:nvPr/>
        </p:nvSpPr>
        <p:spPr>
          <a:xfrm>
            <a:off x="1883520" y="1024200"/>
            <a:ext cx="72720" cy="1094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5"/>
          <p:cNvSpPr/>
          <p:nvPr/>
        </p:nvSpPr>
        <p:spPr>
          <a:xfrm>
            <a:off x="1929240" y="621720"/>
            <a:ext cx="1416960" cy="91404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1929240" y="621720"/>
            <a:ext cx="1416960" cy="4536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1929240" y="6768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cmd.exe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1929240" y="93276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Shell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Execution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9"/>
          <p:cNvSpPr/>
          <p:nvPr/>
        </p:nvSpPr>
        <p:spPr>
          <a:xfrm>
            <a:off x="3346560" y="1078920"/>
            <a:ext cx="255960" cy="360"/>
          </a:xfrm>
          <a:prstGeom prst="line">
            <a:avLst/>
          </a:prstGeom>
          <a:ln w="1905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3557160" y="1024200"/>
            <a:ext cx="72720" cy="1094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1"/>
          <p:cNvSpPr/>
          <p:nvPr/>
        </p:nvSpPr>
        <p:spPr>
          <a:xfrm>
            <a:off x="3602880" y="621720"/>
            <a:ext cx="1416960" cy="914040"/>
          </a:xfrm>
          <a:prstGeom prst="rect">
            <a:avLst/>
          </a:prstGeom>
          <a:solidFill>
            <a:srgbClr val="161B22"/>
          </a:solidFill>
          <a:ln w="19050">
            <a:solidFill>
              <a:srgbClr val="8957E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2"/>
          <p:cNvSpPr/>
          <p:nvPr/>
        </p:nvSpPr>
        <p:spPr>
          <a:xfrm>
            <a:off x="3602880" y="621720"/>
            <a:ext cx="1416960" cy="4536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3"/>
          <p:cNvSpPr/>
          <p:nvPr/>
        </p:nvSpPr>
        <p:spPr>
          <a:xfrm>
            <a:off x="3602880" y="6768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957E5"/>
                </a:solidFill>
                <a:effectLst/>
                <a:uFillTx/>
                <a:latin typeface="Calibri"/>
              </a:rPr>
              <a:t>powershell.exe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4"/>
          <p:cNvSpPr/>
          <p:nvPr/>
        </p:nvSpPr>
        <p:spPr>
          <a:xfrm>
            <a:off x="3602880" y="93276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Script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Drop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5"/>
          <p:cNvSpPr/>
          <p:nvPr/>
        </p:nvSpPr>
        <p:spPr>
          <a:xfrm>
            <a:off x="5019840" y="1078920"/>
            <a:ext cx="255960" cy="360"/>
          </a:xfrm>
          <a:prstGeom prst="line">
            <a:avLst/>
          </a:prstGeom>
          <a:ln w="1905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6"/>
          <p:cNvSpPr/>
          <p:nvPr/>
        </p:nvSpPr>
        <p:spPr>
          <a:xfrm>
            <a:off x="5230440" y="1024200"/>
            <a:ext cx="72720" cy="1094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7"/>
          <p:cNvSpPr/>
          <p:nvPr/>
        </p:nvSpPr>
        <p:spPr>
          <a:xfrm>
            <a:off x="5276160" y="621720"/>
            <a:ext cx="1416960" cy="91404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8"/>
          <p:cNvSpPr/>
          <p:nvPr/>
        </p:nvSpPr>
        <p:spPr>
          <a:xfrm>
            <a:off x="5276160" y="621720"/>
            <a:ext cx="1416960" cy="453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9"/>
          <p:cNvSpPr/>
          <p:nvPr/>
        </p:nvSpPr>
        <p:spPr>
          <a:xfrm>
            <a:off x="5276160" y="6768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78166"/>
                </a:solidFill>
                <a:effectLst/>
                <a:uFillTx/>
                <a:latin typeface="Calibri"/>
              </a:rPr>
              <a:t>bomb.exe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0"/>
          <p:cNvSpPr/>
          <p:nvPr/>
        </p:nvSpPr>
        <p:spPr>
          <a:xfrm>
            <a:off x="5276160" y="93276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Malware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Execution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1"/>
          <p:cNvSpPr/>
          <p:nvPr/>
        </p:nvSpPr>
        <p:spPr>
          <a:xfrm>
            <a:off x="6693120" y="1078920"/>
            <a:ext cx="256320" cy="360"/>
          </a:xfrm>
          <a:prstGeom prst="line">
            <a:avLst/>
          </a:prstGeom>
          <a:ln w="1905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2"/>
          <p:cNvSpPr/>
          <p:nvPr/>
        </p:nvSpPr>
        <p:spPr>
          <a:xfrm>
            <a:off x="6903720" y="1024200"/>
            <a:ext cx="72720" cy="1094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3"/>
          <p:cNvSpPr/>
          <p:nvPr/>
        </p:nvSpPr>
        <p:spPr>
          <a:xfrm>
            <a:off x="6949440" y="621720"/>
            <a:ext cx="1416960" cy="914040"/>
          </a:xfrm>
          <a:prstGeom prst="rect">
            <a:avLst/>
          </a:prstGeom>
          <a:solidFill>
            <a:srgbClr val="161B22"/>
          </a:solidFill>
          <a:ln w="19050">
            <a:solidFill>
              <a:srgbClr val="DA3633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4"/>
          <p:cNvSpPr/>
          <p:nvPr/>
        </p:nvSpPr>
        <p:spPr>
          <a:xfrm>
            <a:off x="6949440" y="621720"/>
            <a:ext cx="1416960" cy="45360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5"/>
          <p:cNvSpPr/>
          <p:nvPr/>
        </p:nvSpPr>
        <p:spPr>
          <a:xfrm>
            <a:off x="6949440" y="6768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A3633"/>
                </a:solidFill>
                <a:effectLst/>
                <a:uFillTx/>
                <a:latin typeface="Calibri"/>
              </a:rPr>
              <a:t>chrome.exe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6"/>
          <p:cNvSpPr/>
          <p:nvPr/>
        </p:nvSpPr>
        <p:spPr>
          <a:xfrm>
            <a:off x="6949440" y="93276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Credential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Harvest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7"/>
          <p:cNvSpPr/>
          <p:nvPr/>
        </p:nvSpPr>
        <p:spPr>
          <a:xfrm>
            <a:off x="255960" y="1719000"/>
            <a:ext cx="4315680" cy="3017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 descr="preencoded.png"/>
          <p:cNvPicPr/>
          <p:nvPr/>
        </p:nvPicPr>
        <p:blipFill>
          <a:blip r:embed="rId1"/>
          <a:stretch/>
        </p:blipFill>
        <p:spPr>
          <a:xfrm>
            <a:off x="301680" y="1764720"/>
            <a:ext cx="422424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38"/>
          <p:cNvSpPr/>
          <p:nvPr/>
        </p:nvSpPr>
        <p:spPr>
          <a:xfrm>
            <a:off x="255960" y="1517760"/>
            <a:ext cx="431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Hybrid Analysis – Process Tree (Part 1)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9"/>
          <p:cNvSpPr/>
          <p:nvPr/>
        </p:nvSpPr>
        <p:spPr>
          <a:xfrm>
            <a:off x="4773240" y="1719000"/>
            <a:ext cx="4315680" cy="3017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1" descr="preencoded.png"/>
          <p:cNvPicPr/>
          <p:nvPr/>
        </p:nvPicPr>
        <p:blipFill>
          <a:blip r:embed="rId2"/>
          <a:stretch/>
        </p:blipFill>
        <p:spPr>
          <a:xfrm>
            <a:off x="4818960" y="1764720"/>
            <a:ext cx="422424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40"/>
          <p:cNvSpPr/>
          <p:nvPr/>
        </p:nvSpPr>
        <p:spPr>
          <a:xfrm>
            <a:off x="4773240" y="1517760"/>
            <a:ext cx="431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Hybrid Analysis – Process Tree (Part 2)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1"/>
          <p:cNvSpPr/>
          <p:nvPr/>
        </p:nvSpPr>
        <p:spPr>
          <a:xfrm>
            <a:off x="255960" y="4754880"/>
            <a:ext cx="8631720" cy="16416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2"/>
          <p:cNvSpPr/>
          <p:nvPr/>
        </p:nvSpPr>
        <p:spPr>
          <a:xfrm>
            <a:off x="255960" y="4754880"/>
            <a:ext cx="8631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MITRE Ref:  T1566.001 – Phishing Attachment   |   T1059.001 – PowerShell   |   T1055 – Process Injection   |   T1056 – Input Capture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0" y="0"/>
            <a:ext cx="72720" cy="5025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164520" y="91440"/>
            <a:ext cx="292320" cy="292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164520" y="91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567000" y="73080"/>
            <a:ext cx="6857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NETWORK INDICATORS OF COMPROMISE (IOCS)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8046720" y="91440"/>
            <a:ext cx="1005480" cy="292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8046720" y="9144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TLP:WHITE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274320" y="495612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bomb.bin Malware Analysis Report  |  Confidential – Internal Use  |  TLP:WHITE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255960" y="621720"/>
            <a:ext cx="2559960" cy="292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255960" y="62172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INDICATOR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1"/>
          <p:cNvSpPr/>
          <p:nvPr/>
        </p:nvSpPr>
        <p:spPr>
          <a:xfrm>
            <a:off x="2816280" y="621720"/>
            <a:ext cx="1005480" cy="292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2816280" y="62172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3"/>
          <p:cNvSpPr/>
          <p:nvPr/>
        </p:nvSpPr>
        <p:spPr>
          <a:xfrm>
            <a:off x="3822120" y="621720"/>
            <a:ext cx="1096920" cy="292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3822120" y="62172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CONFIDENCE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4919400" y="621720"/>
            <a:ext cx="4160160" cy="292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4919400" y="62172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DESCRIPTION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7"/>
          <p:cNvSpPr/>
          <p:nvPr/>
        </p:nvSpPr>
        <p:spPr>
          <a:xfrm>
            <a:off x="255960" y="932760"/>
            <a:ext cx="255996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301680" y="93276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8BFD"/>
                </a:solidFill>
                <a:effectLst/>
                <a:uFillTx/>
                <a:latin typeface="Calibri"/>
              </a:rPr>
              <a:t>185.234.xx.xx (placeholder)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2816280" y="932760"/>
            <a:ext cx="100548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2862000" y="932760"/>
            <a:ext cx="914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IPv4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1"/>
          <p:cNvSpPr/>
          <p:nvPr/>
        </p:nvSpPr>
        <p:spPr>
          <a:xfrm>
            <a:off x="3822120" y="932760"/>
            <a:ext cx="109692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3867840" y="932760"/>
            <a:ext cx="1005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A3633"/>
                </a:solidFill>
                <a:effectLst/>
                <a:uFillTx/>
                <a:latin typeface="Calibri"/>
              </a:rPr>
              <a:t>HIGH – C2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3"/>
          <p:cNvSpPr/>
          <p:nvPr/>
        </p:nvSpPr>
        <p:spPr>
          <a:xfrm>
            <a:off x="4919400" y="932760"/>
            <a:ext cx="416016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4"/>
          <p:cNvSpPr/>
          <p:nvPr/>
        </p:nvSpPr>
        <p:spPr>
          <a:xfrm>
            <a:off x="4965120" y="93276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Command &amp; Control server – POST beacon traffic observed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5"/>
          <p:cNvSpPr/>
          <p:nvPr/>
        </p:nvSpPr>
        <p:spPr>
          <a:xfrm>
            <a:off x="255960" y="1389960"/>
            <a:ext cx="2559960" cy="438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6"/>
          <p:cNvSpPr/>
          <p:nvPr/>
        </p:nvSpPr>
        <p:spPr>
          <a:xfrm>
            <a:off x="301680" y="138996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8BFD"/>
                </a:solidFill>
                <a:effectLst/>
                <a:uFillTx/>
                <a:latin typeface="Calibri"/>
              </a:rPr>
              <a:t>t.me/[channel] (Telegram)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7"/>
          <p:cNvSpPr/>
          <p:nvPr/>
        </p:nvSpPr>
        <p:spPr>
          <a:xfrm>
            <a:off x="2816280" y="1389960"/>
            <a:ext cx="1005480" cy="438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8"/>
          <p:cNvSpPr/>
          <p:nvPr/>
        </p:nvSpPr>
        <p:spPr>
          <a:xfrm>
            <a:off x="2862000" y="1389960"/>
            <a:ext cx="914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URL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9"/>
          <p:cNvSpPr/>
          <p:nvPr/>
        </p:nvSpPr>
        <p:spPr>
          <a:xfrm>
            <a:off x="3822120" y="1389960"/>
            <a:ext cx="1096920" cy="438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0"/>
          <p:cNvSpPr/>
          <p:nvPr/>
        </p:nvSpPr>
        <p:spPr>
          <a:xfrm>
            <a:off x="3867840" y="1389960"/>
            <a:ext cx="1005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A3633"/>
                </a:solidFill>
                <a:effectLst/>
                <a:uFillTx/>
                <a:latin typeface="Calibri"/>
              </a:rPr>
              <a:t>HIGH – C2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1"/>
          <p:cNvSpPr/>
          <p:nvPr/>
        </p:nvSpPr>
        <p:spPr>
          <a:xfrm>
            <a:off x="4919400" y="1389960"/>
            <a:ext cx="4160160" cy="438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2"/>
          <p:cNvSpPr/>
          <p:nvPr/>
        </p:nvSpPr>
        <p:spPr>
          <a:xfrm>
            <a:off x="4965120" y="138996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Telegram-based C2 exfiltration channel (Lumma/Agent Tesla pattern)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3"/>
          <p:cNvSpPr/>
          <p:nvPr/>
        </p:nvSpPr>
        <p:spPr>
          <a:xfrm>
            <a:off x="255960" y="1847160"/>
            <a:ext cx="255996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4"/>
          <p:cNvSpPr/>
          <p:nvPr/>
        </p:nvSpPr>
        <p:spPr>
          <a:xfrm>
            <a:off x="301680" y="184716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8BFD"/>
                </a:solidFill>
                <a:effectLst/>
                <a:uFillTx/>
                <a:latin typeface="Calibri"/>
              </a:rPr>
              <a:t>hxxp://malware-cdn[.]xyz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5"/>
          <p:cNvSpPr/>
          <p:nvPr/>
        </p:nvSpPr>
        <p:spPr>
          <a:xfrm>
            <a:off x="2816280" y="1847160"/>
            <a:ext cx="100548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6"/>
          <p:cNvSpPr/>
          <p:nvPr/>
        </p:nvSpPr>
        <p:spPr>
          <a:xfrm>
            <a:off x="2862000" y="1847160"/>
            <a:ext cx="914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URL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7"/>
          <p:cNvSpPr/>
          <p:nvPr/>
        </p:nvSpPr>
        <p:spPr>
          <a:xfrm>
            <a:off x="3822120" y="1847160"/>
            <a:ext cx="109692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8"/>
          <p:cNvSpPr/>
          <p:nvPr/>
        </p:nvSpPr>
        <p:spPr>
          <a:xfrm>
            <a:off x="3867840" y="1847160"/>
            <a:ext cx="1005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78166"/>
                </a:solidFill>
                <a:effectLst/>
                <a:uFillTx/>
                <a:latin typeface="Calibri"/>
              </a:rPr>
              <a:t>HIGH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9"/>
          <p:cNvSpPr/>
          <p:nvPr/>
        </p:nvSpPr>
        <p:spPr>
          <a:xfrm>
            <a:off x="4919400" y="1847160"/>
            <a:ext cx="416016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0"/>
          <p:cNvSpPr/>
          <p:nvPr/>
        </p:nvSpPr>
        <p:spPr>
          <a:xfrm>
            <a:off x="4965120" y="184716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Payload delivery / loader stage drop URL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41"/>
          <p:cNvSpPr/>
          <p:nvPr/>
        </p:nvSpPr>
        <p:spPr>
          <a:xfrm>
            <a:off x="255960" y="2304360"/>
            <a:ext cx="2559960" cy="438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2"/>
          <p:cNvSpPr/>
          <p:nvPr/>
        </p:nvSpPr>
        <p:spPr>
          <a:xfrm>
            <a:off x="301680" y="230436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8BFD"/>
                </a:solidFill>
                <a:effectLst/>
                <a:uFillTx/>
                <a:latin typeface="Calibri"/>
              </a:rPr>
              <a:t>POST /gate.php  /panel/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3"/>
          <p:cNvSpPr/>
          <p:nvPr/>
        </p:nvSpPr>
        <p:spPr>
          <a:xfrm>
            <a:off x="2816280" y="2304360"/>
            <a:ext cx="1005480" cy="438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4"/>
          <p:cNvSpPr/>
          <p:nvPr/>
        </p:nvSpPr>
        <p:spPr>
          <a:xfrm>
            <a:off x="2862000" y="2304360"/>
            <a:ext cx="914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HTTP Endpoint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45"/>
          <p:cNvSpPr/>
          <p:nvPr/>
        </p:nvSpPr>
        <p:spPr>
          <a:xfrm>
            <a:off x="3822120" y="2304360"/>
            <a:ext cx="1096920" cy="438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6"/>
          <p:cNvSpPr/>
          <p:nvPr/>
        </p:nvSpPr>
        <p:spPr>
          <a:xfrm>
            <a:off x="3867840" y="2304360"/>
            <a:ext cx="1005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78166"/>
                </a:solidFill>
                <a:effectLst/>
                <a:uFillTx/>
                <a:latin typeface="Calibri"/>
              </a:rPr>
              <a:t>HIGH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47"/>
          <p:cNvSpPr/>
          <p:nvPr/>
        </p:nvSpPr>
        <p:spPr>
          <a:xfrm>
            <a:off x="4919400" y="2304360"/>
            <a:ext cx="4160160" cy="438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8"/>
          <p:cNvSpPr/>
          <p:nvPr/>
        </p:nvSpPr>
        <p:spPr>
          <a:xfrm>
            <a:off x="4965120" y="230436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Credential exfiltration POST request pattern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49"/>
          <p:cNvSpPr/>
          <p:nvPr/>
        </p:nvSpPr>
        <p:spPr>
          <a:xfrm>
            <a:off x="255960" y="2761560"/>
            <a:ext cx="255996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0"/>
          <p:cNvSpPr/>
          <p:nvPr/>
        </p:nvSpPr>
        <p:spPr>
          <a:xfrm>
            <a:off x="301680" y="276156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8BFD"/>
                </a:solidFill>
                <a:effectLst/>
                <a:uFillTx/>
                <a:latin typeface="Calibri"/>
              </a:rPr>
              <a:t>chrome.exe / msedge.exe outbound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1"/>
          <p:cNvSpPr/>
          <p:nvPr/>
        </p:nvSpPr>
        <p:spPr>
          <a:xfrm>
            <a:off x="2816280" y="2761560"/>
            <a:ext cx="100548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2"/>
          <p:cNvSpPr/>
          <p:nvPr/>
        </p:nvSpPr>
        <p:spPr>
          <a:xfrm>
            <a:off x="2862000" y="2761560"/>
            <a:ext cx="914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Process Net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53"/>
          <p:cNvSpPr/>
          <p:nvPr/>
        </p:nvSpPr>
        <p:spPr>
          <a:xfrm>
            <a:off x="3822120" y="2761560"/>
            <a:ext cx="109692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4"/>
          <p:cNvSpPr/>
          <p:nvPr/>
        </p:nvSpPr>
        <p:spPr>
          <a:xfrm>
            <a:off x="3867840" y="2761560"/>
            <a:ext cx="1005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MEDIUM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55"/>
          <p:cNvSpPr/>
          <p:nvPr/>
        </p:nvSpPr>
        <p:spPr>
          <a:xfrm>
            <a:off x="4919400" y="2761560"/>
            <a:ext cx="4160160" cy="438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6"/>
          <p:cNvSpPr/>
          <p:nvPr/>
        </p:nvSpPr>
        <p:spPr>
          <a:xfrm>
            <a:off x="4965120" y="276156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5076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Browser processes making suspicious external HTTP requests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57"/>
          <p:cNvSpPr/>
          <p:nvPr/>
        </p:nvSpPr>
        <p:spPr>
          <a:xfrm>
            <a:off x="255960" y="3108960"/>
            <a:ext cx="863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Network Traffic Analysis Screenshot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58"/>
          <p:cNvSpPr/>
          <p:nvPr/>
        </p:nvSpPr>
        <p:spPr>
          <a:xfrm>
            <a:off x="255960" y="3310200"/>
            <a:ext cx="8631720" cy="1572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"/>
          <p:cNvPicPr/>
          <p:nvPr/>
        </p:nvPicPr>
        <p:blipFill>
          <a:blip r:embed="rId1"/>
          <a:stretch/>
        </p:blipFill>
        <p:spPr>
          <a:xfrm>
            <a:off x="293760" y="3338280"/>
            <a:ext cx="4449240" cy="154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"/>
          <p:cNvPicPr/>
          <p:nvPr/>
        </p:nvPicPr>
        <p:blipFill>
          <a:blip r:embed="rId2"/>
          <a:stretch/>
        </p:blipFill>
        <p:spPr>
          <a:xfrm>
            <a:off x="4438440" y="3310200"/>
            <a:ext cx="4449240" cy="154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0" y="0"/>
            <a:ext cx="72720" cy="5025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164520" y="91440"/>
            <a:ext cx="292320" cy="292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164520" y="91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567000" y="73080"/>
            <a:ext cx="6857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MITRE ATT&amp;CK HEATMAP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8046720" y="91440"/>
            <a:ext cx="1005480" cy="292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8046720" y="9144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TLP:WHITE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274320" y="495612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bomb.bin Malware Analysis Report  |  Confidential – Internal Use  |  TLP:WHITE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255960" y="6400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8B949E"/>
                </a:solidFill>
                <a:effectLst/>
                <a:uFillTx/>
                <a:latin typeface="Calibri"/>
              </a:rPr>
              <a:t>TOP 5 TECHNIQUES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255960" y="914400"/>
            <a:ext cx="3200040" cy="749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A3633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255960" y="914400"/>
            <a:ext cx="63720" cy="749520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384120" y="95112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A3633"/>
                </a:solidFill>
                <a:effectLst/>
                <a:uFillTx/>
                <a:latin typeface="Calibri"/>
              </a:rPr>
              <a:t>T1566.001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384120" y="11520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Phishing: Spearphishing Attachment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384120" y="135324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Malware delivered via malicious document attachment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5"/>
          <p:cNvSpPr/>
          <p:nvPr/>
        </p:nvSpPr>
        <p:spPr>
          <a:xfrm>
            <a:off x="255960" y="1700640"/>
            <a:ext cx="3200040" cy="749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255960" y="1700640"/>
            <a:ext cx="63720" cy="7495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384120" y="173736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78166"/>
                </a:solidFill>
                <a:effectLst/>
                <a:uFillTx/>
                <a:latin typeface="Calibri"/>
              </a:rPr>
              <a:t>T1059.001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384120" y="19386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Command &amp; Scripting: PowerShell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384120" y="213984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PowerShell used to execute dropped payload scripts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0"/>
          <p:cNvSpPr/>
          <p:nvPr/>
        </p:nvSpPr>
        <p:spPr>
          <a:xfrm>
            <a:off x="255960" y="2487240"/>
            <a:ext cx="3200040" cy="749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1"/>
          <p:cNvSpPr/>
          <p:nvPr/>
        </p:nvSpPr>
        <p:spPr>
          <a:xfrm>
            <a:off x="255960" y="2487240"/>
            <a:ext cx="63720" cy="74952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384120" y="25236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29922"/>
                </a:solidFill>
                <a:effectLst/>
                <a:uFillTx/>
                <a:latin typeface="Calibri"/>
              </a:rPr>
              <a:t>T1555.003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384120" y="272484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Credentials from Browsers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384120" y="29260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Browser credential stores targeted by stealer module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5"/>
          <p:cNvSpPr/>
          <p:nvPr/>
        </p:nvSpPr>
        <p:spPr>
          <a:xfrm>
            <a:off x="255960" y="3273480"/>
            <a:ext cx="3200040" cy="749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6"/>
          <p:cNvSpPr/>
          <p:nvPr/>
        </p:nvSpPr>
        <p:spPr>
          <a:xfrm>
            <a:off x="255960" y="3273480"/>
            <a:ext cx="63720" cy="74952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384120" y="33102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8BFD"/>
                </a:solidFill>
                <a:effectLst/>
                <a:uFillTx/>
                <a:latin typeface="Calibri"/>
              </a:rPr>
              <a:t>T1071.001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8"/>
          <p:cNvSpPr/>
          <p:nvPr/>
        </p:nvSpPr>
        <p:spPr>
          <a:xfrm>
            <a:off x="384120" y="351144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Application Layer Protocol: Web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384120" y="371232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HTTP/S used to beacon to C2 and ex filtrate data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30"/>
          <p:cNvSpPr/>
          <p:nvPr/>
        </p:nvSpPr>
        <p:spPr>
          <a:xfrm>
            <a:off x="255960" y="4060080"/>
            <a:ext cx="3200040" cy="749520"/>
          </a:xfrm>
          <a:prstGeom prst="rect">
            <a:avLst/>
          </a:prstGeom>
          <a:solidFill>
            <a:srgbClr val="161B22"/>
          </a:solidFill>
          <a:ln w="12700">
            <a:solidFill>
              <a:srgbClr val="8957E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1"/>
          <p:cNvSpPr/>
          <p:nvPr/>
        </p:nvSpPr>
        <p:spPr>
          <a:xfrm>
            <a:off x="255960" y="4060080"/>
            <a:ext cx="63720" cy="74952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2"/>
          <p:cNvSpPr/>
          <p:nvPr/>
        </p:nvSpPr>
        <p:spPr>
          <a:xfrm>
            <a:off x="384120" y="409644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957E5"/>
                </a:solidFill>
                <a:effectLst/>
                <a:uFillTx/>
                <a:latin typeface="Calibri"/>
              </a:rPr>
              <a:t>T1105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3"/>
          <p:cNvSpPr/>
          <p:nvPr/>
        </p:nvSpPr>
        <p:spPr>
          <a:xfrm>
            <a:off x="384120" y="4297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Ingress Tool Transfer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4"/>
          <p:cNvSpPr/>
          <p:nvPr/>
        </p:nvSpPr>
        <p:spPr>
          <a:xfrm>
            <a:off x="384120" y="449892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Additional payloads downloaded from remote server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5"/>
          <p:cNvSpPr/>
          <p:nvPr/>
        </p:nvSpPr>
        <p:spPr>
          <a:xfrm>
            <a:off x="3639240" y="640080"/>
            <a:ext cx="524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MITRE ATT&amp;CK Matrix – any.run Analysis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6"/>
          <p:cNvSpPr/>
          <p:nvPr/>
        </p:nvSpPr>
        <p:spPr>
          <a:xfrm>
            <a:off x="3639240" y="1143000"/>
            <a:ext cx="5248440" cy="3200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" name=""/>
          <p:cNvPicPr/>
          <p:nvPr/>
        </p:nvPicPr>
        <p:blipFill>
          <a:blip r:embed="rId1"/>
          <a:srcRect l="4013" t="4085" r="1778" b="20357"/>
          <a:stretch/>
        </p:blipFill>
        <p:spPr>
          <a:xfrm>
            <a:off x="3657600" y="1231560"/>
            <a:ext cx="5257800" cy="288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0" y="0"/>
            <a:ext cx="72720" cy="5025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"/>
          <p:cNvSpPr/>
          <p:nvPr/>
        </p:nvSpPr>
        <p:spPr>
          <a:xfrm>
            <a:off x="164520" y="91440"/>
            <a:ext cx="292320" cy="2923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"/>
          <p:cNvSpPr/>
          <p:nvPr/>
        </p:nvSpPr>
        <p:spPr>
          <a:xfrm>
            <a:off x="164520" y="91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567000" y="73080"/>
            <a:ext cx="6857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RECOMMENDATIONS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5"/>
          <p:cNvSpPr/>
          <p:nvPr/>
        </p:nvSpPr>
        <p:spPr>
          <a:xfrm>
            <a:off x="8046720" y="91440"/>
            <a:ext cx="1005480" cy="292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8046720" y="9144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TLP:WHITE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274320" y="495612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bomb.bin Malware Analysis Report  |  Confidential – Internal Use  |  TLP:WHITE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9"/>
          <p:cNvSpPr/>
          <p:nvPr/>
        </p:nvSpPr>
        <p:spPr>
          <a:xfrm>
            <a:off x="255960" y="658440"/>
            <a:ext cx="4205880" cy="1965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0"/>
          <p:cNvSpPr/>
          <p:nvPr/>
        </p:nvSpPr>
        <p:spPr>
          <a:xfrm>
            <a:off x="255960" y="658440"/>
            <a:ext cx="63720" cy="1965600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1"/>
          <p:cNvSpPr/>
          <p:nvPr/>
        </p:nvSpPr>
        <p:spPr>
          <a:xfrm>
            <a:off x="420480" y="795600"/>
            <a:ext cx="347040" cy="347040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2"/>
          <p:cNvSpPr/>
          <p:nvPr/>
        </p:nvSpPr>
        <p:spPr>
          <a:xfrm>
            <a:off x="420480" y="795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3"/>
          <p:cNvSpPr/>
          <p:nvPr/>
        </p:nvSpPr>
        <p:spPr>
          <a:xfrm>
            <a:off x="850320" y="79560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Block C2 Infrastructure at Firewall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4"/>
          <p:cNvSpPr/>
          <p:nvPr/>
        </p:nvSpPr>
        <p:spPr>
          <a:xfrm>
            <a:off x="420480" y="1225080"/>
            <a:ext cx="3931920" cy="36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420480" y="1298520"/>
            <a:ext cx="3931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Immediately block all identified C2 IP addresses and domains at the network perimeter. Add Telegram API endpoints to deny list if Telegram is not a business requirement. Update threat intel feeds with extracted indicators.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6"/>
          <p:cNvSpPr/>
          <p:nvPr/>
        </p:nvSpPr>
        <p:spPr>
          <a:xfrm>
            <a:off x="255960" y="2788920"/>
            <a:ext cx="4205880" cy="1965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7"/>
          <p:cNvSpPr/>
          <p:nvPr/>
        </p:nvSpPr>
        <p:spPr>
          <a:xfrm>
            <a:off x="255960" y="2788920"/>
            <a:ext cx="63720" cy="19656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8"/>
          <p:cNvSpPr/>
          <p:nvPr/>
        </p:nvSpPr>
        <p:spPr>
          <a:xfrm>
            <a:off x="420480" y="2926080"/>
            <a:ext cx="347040" cy="3470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420480" y="2926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0"/>
          <p:cNvSpPr/>
          <p:nvPr/>
        </p:nvSpPr>
        <p:spPr>
          <a:xfrm>
            <a:off x="850320" y="292608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Hunt for Persistence Registry Keys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1"/>
          <p:cNvSpPr/>
          <p:nvPr/>
        </p:nvSpPr>
        <p:spPr>
          <a:xfrm>
            <a:off x="420480" y="3355560"/>
            <a:ext cx="3931920" cy="36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2"/>
          <p:cNvSpPr/>
          <p:nvPr/>
        </p:nvSpPr>
        <p:spPr>
          <a:xfrm>
            <a:off x="420480" y="3429000"/>
            <a:ext cx="3931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Search all endpoints for registry run keys (HKCU\Software\Microsoft\Windows\CurrentVersion\Run) and scheduled tasks referencing unusual executables. Prioritize hosts that spawned powershell.exe from Office processes.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3"/>
          <p:cNvSpPr/>
          <p:nvPr/>
        </p:nvSpPr>
        <p:spPr>
          <a:xfrm>
            <a:off x="4681800" y="658440"/>
            <a:ext cx="4205880" cy="1965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4"/>
          <p:cNvSpPr/>
          <p:nvPr/>
        </p:nvSpPr>
        <p:spPr>
          <a:xfrm>
            <a:off x="4681800" y="658440"/>
            <a:ext cx="63720" cy="19656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5"/>
          <p:cNvSpPr/>
          <p:nvPr/>
        </p:nvSpPr>
        <p:spPr>
          <a:xfrm>
            <a:off x="4846320" y="795600"/>
            <a:ext cx="347040" cy="34704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6"/>
          <p:cNvSpPr/>
          <p:nvPr/>
        </p:nvSpPr>
        <p:spPr>
          <a:xfrm>
            <a:off x="4846320" y="795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7"/>
          <p:cNvSpPr/>
          <p:nvPr/>
        </p:nvSpPr>
        <p:spPr>
          <a:xfrm>
            <a:off x="5276160" y="79560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Add File Hashes to EDR Blocklist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8"/>
          <p:cNvSpPr/>
          <p:nvPr/>
        </p:nvSpPr>
        <p:spPr>
          <a:xfrm>
            <a:off x="4846320" y="1225080"/>
            <a:ext cx="3931920" cy="36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9"/>
          <p:cNvSpPr/>
          <p:nvPr/>
        </p:nvSpPr>
        <p:spPr>
          <a:xfrm>
            <a:off x="4846320" y="1298520"/>
            <a:ext cx="3931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Deploy hash-based block rules in EDR platform: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MD5: 301B11E8C7FE546B92260C88B2001998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SHA256: 42ebcc120a60e473f380cb0eac07b778677ca683112a8037b4da76f69489dd00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0"/>
          <p:cNvSpPr/>
          <p:nvPr/>
        </p:nvSpPr>
        <p:spPr>
          <a:xfrm>
            <a:off x="4681800" y="2788920"/>
            <a:ext cx="4205880" cy="1965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1"/>
          <p:cNvSpPr/>
          <p:nvPr/>
        </p:nvSpPr>
        <p:spPr>
          <a:xfrm>
            <a:off x="4681800" y="2788920"/>
            <a:ext cx="63720" cy="196560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2"/>
          <p:cNvSpPr/>
          <p:nvPr/>
        </p:nvSpPr>
        <p:spPr>
          <a:xfrm>
            <a:off x="4846320" y="2926080"/>
            <a:ext cx="347040" cy="34704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3"/>
          <p:cNvSpPr/>
          <p:nvPr/>
        </p:nvSpPr>
        <p:spPr>
          <a:xfrm>
            <a:off x="4846320" y="2926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4"/>
          <p:cNvSpPr/>
          <p:nvPr/>
        </p:nvSpPr>
        <p:spPr>
          <a:xfrm>
            <a:off x="5276160" y="292608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6EDF3"/>
                </a:solidFill>
                <a:effectLst/>
                <a:uFillTx/>
                <a:latin typeface="Calibri"/>
              </a:rPr>
              <a:t>Investigate Lateral Movement from Affected Hosts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5"/>
          <p:cNvSpPr/>
          <p:nvPr/>
        </p:nvSpPr>
        <p:spPr>
          <a:xfrm>
            <a:off x="4846320" y="3355560"/>
            <a:ext cx="3931920" cy="360"/>
          </a:xfrm>
          <a:prstGeom prst="line">
            <a:avLst/>
          </a:prstGeom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6"/>
          <p:cNvSpPr/>
          <p:nvPr/>
        </p:nvSpPr>
        <p:spPr>
          <a:xfrm>
            <a:off x="4846320" y="3429000"/>
            <a:ext cx="3931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Review SMB/RDP/WMI activity from infected systems in the 72h window surrounding initial execution. Audit credentials stored in browsers on affected hosts — consider forced password resets for impacted users.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2026-06-05T01:11:41Z</dcterms:created>
  <dc:creator>PptxGenJS</dc:creator>
  <dc:description/>
  <dc:language>en-US</dc:language>
  <cp:lastModifiedBy/>
  <dcterms:modified xsi:type="dcterms:W3CDTF">2026-06-05T13:53:36Z</dcterms:modified>
  <cp:revision>2</cp:revision>
  <dc:subject>PptxGenJS Presentation</dc:subject>
  <dc:title>Malware Analysis Report – bomb.bin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